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77" r:id="rId2"/>
    <p:sldId id="278" r:id="rId3"/>
    <p:sldId id="279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79"/>
  </p:normalViewPr>
  <p:slideViewPr>
    <p:cSldViewPr snapToGrid="0">
      <p:cViewPr varScale="1">
        <p:scale>
          <a:sx n="112" d="100"/>
          <a:sy n="112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importance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E2B2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One or more conditions</c:v>
                </c:pt>
                <c:pt idx="1">
                  <c:v>Age 65 and over</c:v>
                </c:pt>
                <c:pt idx="2">
                  <c:v>Arthritis</c:v>
                </c:pt>
                <c:pt idx="3">
                  <c:v>Age 0–44</c:v>
                </c:pt>
                <c:pt idx="4">
                  <c:v>Heart disease or stroke</c:v>
                </c:pt>
                <c:pt idx="5">
                  <c:v>Diabetes</c:v>
                </c:pt>
                <c:pt idx="6">
                  <c:v>Southern Asia (subregion)</c:v>
                </c:pt>
                <c:pt idx="7">
                  <c:v>Auslan (language)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27.5</c:v>
                </c:pt>
                <c:pt idx="1">
                  <c:v>25.3</c:v>
                </c:pt>
                <c:pt idx="2">
                  <c:v>2.9</c:v>
                </c:pt>
                <c:pt idx="3">
                  <c:v>2</c:v>
                </c:pt>
                <c:pt idx="4">
                  <c:v>1.7</c:v>
                </c:pt>
                <c:pt idx="5">
                  <c:v>1.7</c:v>
                </c:pt>
                <c:pt idx="6">
                  <c:v>1.6</c:v>
                </c:pt>
                <c:pt idx="7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DF-684A-876B-1F4EC8F6CC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A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absolute error (pp)</c:v>
                </c:pt>
              </c:strCache>
            </c:strRef>
          </c:tx>
          <c:spPr>
            <a:solidFill>
              <a:srgbClr val="6E8778"/>
            </a:solidFill>
            <a:effectLst/>
          </c:spPr>
          <c:invertIfNegative val="0"/>
          <c:dLbls>
            <c:numFmt formatCode="0.00&quot; pp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E2B2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0–5%
1,254 cells</c:v>
                </c:pt>
                <c:pt idx="1">
                  <c:v>5–10%
639</c:v>
                </c:pt>
                <c:pt idx="2">
                  <c:v>10–20%
656</c:v>
                </c:pt>
                <c:pt idx="3">
                  <c:v>20–50%
438</c:v>
                </c:pt>
                <c:pt idx="4">
                  <c:v>50–100%
137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</c:v>
                </c:pt>
                <c:pt idx="1">
                  <c:v>1.51</c:v>
                </c:pt>
                <c:pt idx="2">
                  <c:v>2.2200000000000002</c:v>
                </c:pt>
                <c:pt idx="3">
                  <c:v>3.72</c:v>
                </c:pt>
                <c:pt idx="4">
                  <c:v>3.64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11-F34B-82E4-DECBE49DEA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3A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300FB-E1D0-FD49-AA38-4A92B3D9CA23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06AEE-5BE5-7043-A27A-8D1E2ED6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A93B-9C14-6FDA-E7FC-318CD07F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CACB7-769B-F221-F734-A5449B918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8DB6D-66B9-1688-2581-2DA683E8D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EA6ED-96CC-CB47-CA56-0887130C0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8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4CA1-642C-BFAF-EAC9-0584E0D1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B7F01-7F61-ABE8-37D1-BEA91A2A3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62349-7FFE-DE00-7A5D-E0C70C01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3C515-A13E-8A31-0A76-C40AB07E8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863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0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97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4B8C2-64F3-4B87-EA9B-D1DC4584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182757-433C-4145-04B3-02C29FB94EB5}"/>
              </a:ext>
            </a:extLst>
          </p:cNvPr>
          <p:cNvSpPr txBox="1"/>
          <p:nvPr/>
        </p:nvSpPr>
        <p:spPr>
          <a:xfrm>
            <a:off x="822960" y="1600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250" normalizeH="0" baseline="0" noProof="0">
                <a:ln>
                  <a:noFill/>
                </a:ln>
                <a:solidFill>
                  <a:srgbClr val="E3D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PREDICTIVE &amp; FORECASTING ANALYTICS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3C5F3E-8732-07DF-94F8-48EDBE30ADA9}"/>
              </a:ext>
            </a:extLst>
          </p:cNvPr>
          <p:cNvSpPr txBox="1"/>
          <p:nvPr/>
        </p:nvSpPr>
        <p:spPr>
          <a:xfrm>
            <a:off x="822960" y="20574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Long-Term Health Conditions Across CALD Australians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40005F-65FA-52E1-0655-3EEC1EA43D1A}"/>
              </a:ext>
            </a:extLst>
          </p:cNvPr>
          <p:cNvSpPr txBox="1"/>
          <p:nvPr/>
        </p:nvSpPr>
        <p:spPr>
          <a:xfrm>
            <a:off x="841248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EEDF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prevalence modelling on AIHW 2021 Census data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028E1B-CB83-4539-36CF-BC7FD0683238}"/>
              </a:ext>
            </a:extLst>
          </p:cNvPr>
          <p:cNvSpPr/>
          <p:nvPr/>
        </p:nvSpPr>
        <p:spPr>
          <a:xfrm>
            <a:off x="868680" y="4480560"/>
            <a:ext cx="502920" cy="27432"/>
          </a:xfrm>
          <a:prstGeom prst="rect">
            <a:avLst/>
          </a:prstGeom>
          <a:solidFill>
            <a:srgbClr val="E3D3BC"/>
          </a:solidFill>
          <a:ln w="12700">
            <a:solidFill>
              <a:srgbClr val="E3D3B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0C01E5-4607-93B2-E679-CF0B764055B1}"/>
              </a:ext>
            </a:extLst>
          </p:cNvPr>
          <p:cNvSpPr txBox="1"/>
          <p:nvPr/>
        </p:nvSpPr>
        <p:spPr>
          <a:xfrm>
            <a:off x="82296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Syed Haroon Ahmad · Simbarashe Mutyambizi · Md Adnan Abir · Cynthia Ebele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Ikegbunam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 Najmus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Sakeeb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kumimoji="0" lang="en-AU" sz="1300" b="1" i="0" u="none" strike="noStrike" kern="1200" cap="none" spc="0" normalizeH="0" baseline="0" noProof="0" dirty="0">
                <a:ln>
                  <a:noFill/>
                </a:ln>
                <a:solidFill>
                  <a:srgbClr val="F6EEE2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Dan3 Theme2)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F6EEE2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E47EB2-1C82-5C0C-572F-F96FD25E6EC7}"/>
              </a:ext>
            </a:extLst>
          </p:cNvPr>
          <p:cNvSpPr txBox="1"/>
          <p:nvPr/>
        </p:nvSpPr>
        <p:spPr>
          <a:xfrm>
            <a:off x="822960" y="51937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7AE9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PRT661 Data Science Practice · Assessment 3 · Charles Darwin University · Semester 1, 2026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787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325880" y="15636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objectives, architecture and workflow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50174" y="15636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today and how the pieces fit together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09397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2128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22037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50174" y="22037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since Assessment 2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25880" y="273405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285292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3152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325880" y="28437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machine learning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250174" y="28437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Model selection, errors and the FastAPI service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325880" y="337413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315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325880" y="34838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Video Demo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250174" y="34838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dashboard, running with the API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325880" y="401421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" y="413308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7315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325880" y="412394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250174" y="41239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had to solve to make it work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325880" y="465429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1520" y="477316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3152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325880" y="47640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and reflection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8250174" y="4764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and what we learned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325880" y="5294376"/>
            <a:ext cx="10177272" cy="0"/>
          </a:xfrm>
          <a:prstGeom prst="line">
            <a:avLst/>
          </a:prstGeom>
          <a:noFill/>
          <a:ln w="9525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520" y="54132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73152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325880" y="54041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before Assessment 4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8250174" y="5404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Deploy, retrain, test and document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census tables to a working prediction tool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2532888" cy="1170432"/>
          </a:xfrm>
          <a:prstGeom prst="roundRect">
            <a:avLst>
              <a:gd name="adj" fmla="val 7813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1700784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6.6M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2249424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overseas-born Australians covered by the data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47288" y="1572768"/>
            <a:ext cx="2532888" cy="1170432"/>
          </a:xfrm>
          <a:prstGeom prst="roundRect">
            <a:avLst>
              <a:gd name="adj" fmla="val 7813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75888" y="1700784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16,184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675888" y="2249424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census cells (of 120,978)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08776" y="1572768"/>
            <a:ext cx="2532888" cy="1170432"/>
          </a:xfrm>
          <a:prstGeom prst="roundRect">
            <a:avLst>
              <a:gd name="adj" fmla="val 7813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37376" y="1700784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2,717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37376" y="2249424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groups: birthplace or language × age × sex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70264" y="1572768"/>
            <a:ext cx="2532888" cy="1170432"/>
          </a:xfrm>
          <a:prstGeom prst="roundRect">
            <a:avLst>
              <a:gd name="adj" fmla="val 7813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198864" y="1700784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198864" y="2249424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conditions: 10 specific, 3 combined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017520"/>
            <a:ext cx="4617720" cy="2514600"/>
          </a:xfrm>
          <a:prstGeom prst="roundRect">
            <a:avLst>
              <a:gd name="adj" fmla="val 3636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60120" y="3246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60120" y="363931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Which cultural, linguistic and demographic factors are linked to long-term health conditions among Australians born overseas, and how common is each condition in a given population group?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60120" y="4846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Unchanged since Assessment 2: we estimate how common a condition is in a group, not a person's risk.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32120" y="3017520"/>
            <a:ext cx="5973775" cy="2514600"/>
          </a:xfrm>
          <a:prstGeom prst="roundRect">
            <a:avLst>
              <a:gd name="adj" fmla="val 3636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806440" y="3246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 now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06440" y="3730752"/>
            <a:ext cx="420624" cy="420624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0" descr="chart b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3835908"/>
            <a:ext cx="210312" cy="21031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373368" y="3712464"/>
            <a:ext cx="3578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by age, sex, birthplace, time in Australia and language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116007" y="3813048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0116007" y="38130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Assignment 2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806440" y="4315968"/>
            <a:ext cx="420624" cy="420624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4421124"/>
            <a:ext cx="210312" cy="21031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373368" y="4297680"/>
            <a:ext cx="3578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 estimates the % of a group reporting a condition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10116007" y="4398264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10116007" y="43982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Assignment 2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5806440" y="4901184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2" descr="deskto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96" y="5006340"/>
            <a:ext cx="210312" cy="21031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373368" y="4882896"/>
            <a:ext cx="3578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API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predictions in a web app, served by a FastAPI model service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10116007" y="4983480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10116007" y="498348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SINCE Assignment 2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/>
          <p:cNvSpPr txBox="1"/>
          <p:nvPr/>
        </p:nvSpPr>
        <p:spPr>
          <a:xfrm>
            <a:off x="685800" y="574243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Since Assessment 2 the project has moved from analysis and modelling to a working system government bodies can use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and where each stands now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0" y="15179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ASSESSMENT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058400" y="1517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10817352" cy="676656"/>
          </a:xfrm>
          <a:prstGeom prst="roundRect">
            <a:avLst>
              <a:gd name="adj" fmla="val 13514"/>
            </a:avLst>
          </a:prstGeom>
          <a:solidFill>
            <a:srgbClr val="FBEDE7"/>
          </a:solidFill>
          <a:ln w="12700">
            <a:solidFill>
              <a:srgbClr val="EFC9BB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6968" y="197510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8696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371600" y="182880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 population-level prevalence with machine learning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669280" y="1828800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Chosen at A2 (R² 0.965); now served through the API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104120" y="2011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104120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2990088"/>
            <a:ext cx="10817352" cy="676656"/>
          </a:xfrm>
          <a:prstGeom prst="roundRect">
            <a:avLst>
              <a:gd name="adj" fmla="val 13514"/>
            </a:avLst>
          </a:prstGeom>
          <a:solidFill>
            <a:srgbClr val="FBEDE7"/>
          </a:solidFill>
          <a:ln w="12700">
            <a:solidFill>
              <a:srgbClr val="EFC9BB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6968" y="313639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86968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71600" y="29900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the key findings from our analysis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669280" y="299008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Dashboard built and connected to the API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104120" y="31729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104120" y="31729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4152958"/>
            <a:ext cx="10817352" cy="676656"/>
          </a:xfrm>
          <a:prstGeom prst="roundRect">
            <a:avLst>
              <a:gd name="adj" fmla="val 13514"/>
            </a:avLst>
          </a:prstGeom>
          <a:solidFill>
            <a:srgbClr val="FBEDE7"/>
          </a:solidFill>
          <a:ln w="12700">
            <a:solidFill>
              <a:srgbClr val="EFC9BB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6968" y="429926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86968" y="42992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1371600" y="415295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the dashboard and model on cloud servers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5669280" y="415295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Render blueprint for both services; deploying is next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5800" y="5315828"/>
            <a:ext cx="10817352" cy="676656"/>
          </a:xfrm>
          <a:prstGeom prst="roundRect">
            <a:avLst>
              <a:gd name="adj" fmla="val 13514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86968" y="54621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886968" y="54621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4</a:t>
            </a:r>
          </a:p>
        </p:txBody>
      </p:sp>
      <p:sp>
        <p:nvSpPr>
          <p:cNvPr id="42" name="Text 40"/>
          <p:cNvSpPr txBox="1"/>
          <p:nvPr/>
        </p:nvSpPr>
        <p:spPr>
          <a:xfrm>
            <a:off x="1371600" y="531582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project from plan to conclusion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5669280" y="531582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1–3 delivered; final report is Assessment 4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104120" y="54987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0054640" y="54987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C2489641-F54B-C1EB-2FCE-81A666659F3F}"/>
              </a:ext>
            </a:extLst>
          </p:cNvPr>
          <p:cNvSpPr/>
          <p:nvPr/>
        </p:nvSpPr>
        <p:spPr>
          <a:xfrm>
            <a:off x="10153600" y="4310741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3">
            <a:extLst>
              <a:ext uri="{FF2B5EF4-FFF2-40B4-BE49-F238E27FC236}">
                <a16:creationId xmlns:a16="http://schemas.microsoft.com/office/drawing/2014/main" id="{29CCDD7C-B284-736A-4D5F-1A6640A94785}"/>
              </a:ext>
            </a:extLst>
          </p:cNvPr>
          <p:cNvSpPr txBox="1"/>
          <p:nvPr/>
        </p:nvSpPr>
        <p:spPr>
          <a:xfrm>
            <a:off x="10104119" y="43008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added: a serving layer on the pipeline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ECA2E-1147-ABB4-57DF-033CBD46B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90209"/>
            <a:ext cx="10668001" cy="47406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raw census tables to a prediction on screen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16514-40E7-CC0E-C5CF-A57AB0B85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36" y="1991031"/>
            <a:ext cx="11122527" cy="2875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added since Assessment 2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85800" y="1536192"/>
          <a:ext cx="9956496" cy="3995973"/>
        </p:xfrm>
        <a:graphic>
          <a:graphicData uri="http://schemas.openxmlformats.org/drawingml/2006/table">
            <a:tbl>
              <a:tblPr/>
              <a:tblGrid>
                <a:gridCol w="4036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9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9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Now, at Assessment 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Error and feature analysis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E8778"/>
                          </a:solidFill>
                          <a:latin typeface="Calibri"/>
                          <a:ea typeface="Calibri"/>
                          <a:cs typeface="Calibri"/>
                        </a:rPr>
                        <a:t>✓  </a:t>
                      </a:r>
                      <a:r>
                        <a:rPr lang="en-US" sz="1400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Errors by prevalence band and the top drivers analysed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Inference API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E8778"/>
                          </a:solidFill>
                          <a:latin typeface="Calibri"/>
                          <a:ea typeface="Calibri"/>
                          <a:cs typeface="Calibri"/>
                        </a:rPr>
                        <a:t>✓  </a:t>
                      </a:r>
                      <a:r>
                        <a:rPr lang="en-US" sz="1400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FastAPI service: /health, /predict, /predict/batch, validated inputs, tested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Dashboard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E8778"/>
                          </a:solidFill>
                          <a:latin typeface="Calibri"/>
                          <a:ea typeface="Calibri"/>
                          <a:cs typeface="Calibri"/>
                        </a:rPr>
                        <a:t>✓ </a:t>
                      </a:r>
                      <a:r>
                        <a:rPr lang="en-US" sz="1400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Dashboard: analytics/ model inference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Population-level notice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E8778"/>
                          </a:solidFill>
                          <a:latin typeface="Calibri"/>
                          <a:ea typeface="Calibri"/>
                          <a:cs typeface="Calibri"/>
                        </a:rPr>
                        <a:t>✓  </a:t>
                      </a:r>
                      <a:r>
                        <a:rPr lang="en-US" sz="1400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Shown on every page and with every prediction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38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End-to-end testing (M7)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E8778"/>
                          </a:solidFill>
                          <a:latin typeface="Calibri"/>
                          <a:ea typeface="Calibri"/>
                          <a:cs typeface="Calibri"/>
                        </a:rPr>
                        <a:t>✓  </a:t>
                      </a:r>
                      <a:r>
                        <a:rPr lang="en-US" sz="1400">
                          <a:solidFill>
                            <a:srgbClr val="3E2B24"/>
                          </a:solidFill>
                          <a:latin typeface="Calibri"/>
                          <a:ea typeface="Calibri"/>
                          <a:cs typeface="Calibri"/>
                        </a:rPr>
                        <a:t>47 automated tests: data, model metrics, API and dashboard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85800" y="583387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is on the team GitHub in the branches shown, and each item is a task on our Jira sprint board.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THE PLAN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Milestones: Assessment 2 and now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PRT661 · Assessment 3 · Group Dan3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88720" y="2487168"/>
            <a:ext cx="9784080" cy="0"/>
          </a:xfrm>
          <a:prstGeom prst="line">
            <a:avLst/>
          </a:prstGeom>
          <a:noFill/>
          <a:ln w="254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0976" y="2249424"/>
            <a:ext cx="475488" cy="475488"/>
          </a:xfrm>
          <a:prstGeom prst="ellipse">
            <a:avLst/>
          </a:prstGeom>
          <a:solidFill>
            <a:srgbClr val="6E87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50976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30352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approved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216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85216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5216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85216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48702" y="2249424"/>
            <a:ext cx="475488" cy="475488"/>
          </a:xfrm>
          <a:prstGeom prst="ellipse">
            <a:avLst/>
          </a:prstGeom>
          <a:solidFill>
            <a:srgbClr val="6E87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348702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946366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928078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946366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982942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982942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946366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982942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982942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46427" y="2249424"/>
            <a:ext cx="475488" cy="475488"/>
          </a:xfrm>
          <a:prstGeom prst="ellipse">
            <a:avLst/>
          </a:prstGeom>
          <a:solidFill>
            <a:srgbClr val="6E87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746427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344091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325803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344091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380667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3380667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3344091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80667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3380667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144153" y="2249424"/>
            <a:ext cx="475488" cy="475488"/>
          </a:xfrm>
          <a:prstGeom prst="ellipse">
            <a:avLst/>
          </a:prstGeom>
          <a:solidFill>
            <a:srgbClr val="6E87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5144153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741817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723529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741817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78393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4778393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4741817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78393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4778393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541879" y="2249424"/>
            <a:ext cx="475488" cy="475488"/>
          </a:xfrm>
          <a:prstGeom prst="ellipse">
            <a:avLst/>
          </a:prstGeom>
          <a:solidFill>
            <a:srgbClr val="6E87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6541879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6139543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6121255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6139543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176119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6176119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Done early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6139543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176119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6176119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939605" y="2249424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7939605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7537269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7518981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7537269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573845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7573845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7537269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573845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7573845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337330" y="2249424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9337330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 txBox="1"/>
          <p:nvPr/>
        </p:nvSpPr>
        <p:spPr>
          <a:xfrm>
            <a:off x="8934994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8916706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 tested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8934994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971570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8971570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8934994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971570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 txBox="1"/>
          <p:nvPr/>
        </p:nvSpPr>
        <p:spPr>
          <a:xfrm>
            <a:off x="8971570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Passes locally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0735056" y="224942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 txBox="1"/>
          <p:nvPr/>
        </p:nvSpPr>
        <p:spPr>
          <a:xfrm>
            <a:off x="10735056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 txBox="1"/>
          <p:nvPr/>
        </p:nvSpPr>
        <p:spPr>
          <a:xfrm>
            <a:off x="1033272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 txBox="1"/>
          <p:nvPr/>
        </p:nvSpPr>
        <p:spPr>
          <a:xfrm>
            <a:off x="10314432" y="28529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submitted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81"/>
          <p:cNvSpPr txBox="1"/>
          <p:nvPr/>
        </p:nvSpPr>
        <p:spPr>
          <a:xfrm>
            <a:off x="1033272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0369296" y="374904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83"/>
          <p:cNvSpPr txBox="1"/>
          <p:nvPr/>
        </p:nvSpPr>
        <p:spPr>
          <a:xfrm>
            <a:off x="10369296" y="37490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 txBox="1"/>
          <p:nvPr/>
        </p:nvSpPr>
        <p:spPr>
          <a:xfrm>
            <a:off x="1033272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0369296" y="437997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/>
          <p:cNvSpPr txBox="1"/>
          <p:nvPr/>
        </p:nvSpPr>
        <p:spPr>
          <a:xfrm>
            <a:off x="10369296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track (A4)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85800" y="5074920"/>
            <a:ext cx="10817352" cy="658368"/>
          </a:xfrm>
          <a:prstGeom prst="roundRect">
            <a:avLst>
              <a:gd name="adj" fmla="val 13889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68680" y="5202936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1" name="Image 0" descr="flag checkere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303520"/>
            <a:ext cx="201168" cy="201168"/>
          </a:xfrm>
          <a:prstGeom prst="rect">
            <a:avLst/>
          </a:prstGeom>
        </p:spPr>
      </p:pic>
      <p:sp>
        <p:nvSpPr>
          <p:cNvPr id="92" name="Text 89"/>
          <p:cNvSpPr txBox="1"/>
          <p:nvPr/>
        </p:nvSpPr>
        <p:spPr>
          <a:xfrm>
            <a:off x="1417320" y="50749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milestones moved since Assessment 2 (red).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do: deploy the dashboard and API on Render, then the final report and demonstration for Assessment 4.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MACHINE LEARNING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selection: XGBoost on groups it never saw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67208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697480" y="20482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532120" y="20482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126480" y="20482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20840" y="20482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" y="2304288"/>
            <a:ext cx="6464808" cy="585216"/>
          </a:xfrm>
          <a:prstGeom prst="roundRect">
            <a:avLst>
              <a:gd name="adj" fmla="val 12500"/>
            </a:avLst>
          </a:prstGeom>
          <a:solidFill>
            <a:srgbClr val="FBEDE7"/>
          </a:solidFill>
          <a:ln w="12700">
            <a:solidFill>
              <a:srgbClr val="EFC9B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60120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97480" y="2487168"/>
            <a:ext cx="1965960" cy="219456"/>
          </a:xfrm>
          <a:prstGeom prst="rect">
            <a:avLst/>
          </a:prstGeom>
          <a:solidFill>
            <a:srgbClr val="F3ECE2"/>
          </a:solidFill>
          <a:ln w="12700">
            <a:solidFill>
              <a:srgbClr val="F3EC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97480" y="2487168"/>
            <a:ext cx="1793938" cy="21945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754880" y="23957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9A3F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532120" y="23957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1.83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26480" y="23957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9A3F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2.84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0840" y="23957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0.019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60120" y="3054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97480" y="3145536"/>
            <a:ext cx="1965960" cy="219456"/>
          </a:xfrm>
          <a:prstGeom prst="rect">
            <a:avLst/>
          </a:prstGeom>
          <a:solidFill>
            <a:srgbClr val="F3ECE2"/>
          </a:solidFill>
          <a:ln w="12700">
            <a:solidFill>
              <a:srgbClr val="F3EC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697480" y="3145536"/>
            <a:ext cx="1789024" cy="219456"/>
          </a:xfrm>
          <a:prstGeom prst="rect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754880" y="30540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0.964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532120" y="30540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9A3F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1.73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126480" y="30540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2.88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720840" y="30540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60120" y="37124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97480" y="3803904"/>
            <a:ext cx="1965960" cy="219456"/>
          </a:xfrm>
          <a:prstGeom prst="rect">
            <a:avLst/>
          </a:prstGeom>
          <a:solidFill>
            <a:srgbClr val="F3ECE2"/>
          </a:solidFill>
          <a:ln w="12700">
            <a:solidFill>
              <a:srgbClr val="F3EC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697480" y="3803904"/>
            <a:ext cx="1744789" cy="219456"/>
          </a:xfrm>
          <a:prstGeom prst="rect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754880" y="37124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532120" y="37124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1.89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126480" y="37124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3.23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720840" y="37124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0.030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60120" y="43708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697480" y="4462272"/>
            <a:ext cx="1965960" cy="219456"/>
          </a:xfrm>
          <a:prstGeom prst="rect">
            <a:avLst/>
          </a:prstGeom>
          <a:solidFill>
            <a:srgbClr val="F3ECE2"/>
          </a:solidFill>
          <a:ln w="12700">
            <a:solidFill>
              <a:srgbClr val="F3EC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697480" y="4462272"/>
            <a:ext cx="599618" cy="219456"/>
          </a:xfrm>
          <a:prstGeom prst="rect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4754880" y="43708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0.722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5532120" y="43708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5.86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126480" y="43708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8.03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720840" y="43708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0.018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960120" y="484632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 axis from 0.6 to 1.0. MAE and RMSE in percentage points (lower is better). Gap = train R² − test R². Bold: best in column.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35240" y="1572768"/>
            <a:ext cx="3870655" cy="1069848"/>
          </a:xfrm>
          <a:prstGeom prst="roundRect">
            <a:avLst>
              <a:gd name="adj" fmla="val 8547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7909560" y="1700784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0.965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7909560" y="2212848"/>
            <a:ext cx="3413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96.5% of the variation explained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635240" y="2788920"/>
            <a:ext cx="3870655" cy="1069848"/>
          </a:xfrm>
          <a:prstGeom prst="roundRect">
            <a:avLst>
              <a:gd name="adj" fmla="val 8547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909560" y="2916936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1.83 pp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7909560" y="3429000"/>
            <a:ext cx="3413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average (MAE), in percentage points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35240" y="4005072"/>
            <a:ext cx="3870655" cy="1069848"/>
          </a:xfrm>
          <a:prstGeom prst="roundRect">
            <a:avLst>
              <a:gd name="adj" fmla="val 8547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7909560" y="4133088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0.019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7909560" y="4645152"/>
            <a:ext cx="3413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R² gap: little overfitting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85800" y="5358384"/>
            <a:ext cx="10817352" cy="768096"/>
          </a:xfrm>
          <a:prstGeom prst="roundRect">
            <a:avLst>
              <a:gd name="adj" fmla="val 11905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14400" y="5614416"/>
            <a:ext cx="1463040" cy="246888"/>
          </a:xfrm>
          <a:prstGeom prst="roundRect">
            <a:avLst>
              <a:gd name="adj" fmla="val 50000"/>
            </a:avLst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14400" y="56144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SELECTED AT A2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2560320" y="5358384"/>
            <a:ext cx="8778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Unchanged since Assessment 2: XGBoost has the highest R², the lowest RMSE and the smallest gap of the tree models. Random forest is close, with the lowest MAE (1.73) but a larger gap (0.022).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MACHINE LEARNING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predictions, and where it misses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PRT661 · Assessment 3 · Group Dan3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1700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XGBoost features (% of importance)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hart 0"/>
          <p:cNvGraphicFramePr/>
          <p:nvPr/>
        </p:nvGraphicFramePr>
        <p:xfrm>
          <a:off x="822960" y="201168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10"/>
          <p:cNvSpPr/>
          <p:nvPr/>
        </p:nvSpPr>
        <p:spPr>
          <a:xfrm>
            <a:off x="6199632" y="1572768"/>
            <a:ext cx="5306263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473952" y="1700784"/>
            <a:ext cx="3568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by prevalence of the cell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1"/>
          <p:cNvGraphicFramePr/>
          <p:nvPr/>
        </p:nvGraphicFramePr>
        <p:xfrm>
          <a:off x="6336792" y="2011680"/>
          <a:ext cx="5031943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731520" y="535838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53%  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importance comes from two inputs: 'one or more conditions' and age 65+. The decision tree and random forest rank the same two first.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448C6-F94A-A6C5-D208-4BE197B8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8081E23-A683-294B-1997-6B08A9F47F9B}"/>
              </a:ext>
            </a:extLst>
          </p:cNvPr>
          <p:cNvSpPr txBox="1"/>
          <p:nvPr/>
        </p:nvSpPr>
        <p:spPr>
          <a:xfrm>
            <a:off x="929640" y="3129130"/>
            <a:ext cx="10332720" cy="59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Video Demo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01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had to solve to make it work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PRT661 · Assessment 3 · Group Dan3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3453384" cy="2011680"/>
          </a:xfrm>
          <a:prstGeom prst="roundRect">
            <a:avLst>
              <a:gd name="adj" fmla="val 4545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906524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1773936"/>
            <a:ext cx="2447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tied to library versions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914400" y="2377440"/>
            <a:ext cx="304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preprocessor only loads with the scikit-learn version it was pickled with.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14400" y="2907792"/>
            <a:ext cx="3041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Pinned every version; tests load the saved model.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406367" y="1527048"/>
            <a:ext cx="3453384" cy="2011680"/>
          </a:xfrm>
          <a:prstGeom prst="roundRect">
            <a:avLst>
              <a:gd name="adj" fmla="val 4545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4557802" y="1746504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4" descr="exclamation triang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102" y="1860804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23225" y="1708925"/>
            <a:ext cx="2447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 found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4557802" y="2331720"/>
            <a:ext cx="304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language–country pairings, e.g. China → Uygur.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4557802" y="2862072"/>
            <a:ext cx="3041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the dashboard; fix the mapping and retrain before A4.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8387363" y="1469175"/>
            <a:ext cx="3453384" cy="2011680"/>
          </a:xfrm>
          <a:prstGeom prst="roundRect">
            <a:avLst>
              <a:gd name="adj" fmla="val 4545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8384469" y="1891188"/>
            <a:ext cx="457200" cy="457200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5" descr="expan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769" y="2005488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978829" y="1872900"/>
            <a:ext cx="2447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Dense dashboard for small screens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8587026" y="2476404"/>
            <a:ext cx="304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Chart original appeared cramped on small screens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5"/>
          <p:cNvSpPr txBox="1"/>
          <p:nvPr/>
        </p:nvSpPr>
        <p:spPr>
          <a:xfrm>
            <a:off x="8384469" y="3006756"/>
            <a:ext cx="3041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→  Dashboard now scales with device screen size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3E2B24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AND SECURITY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by design: what the system enforces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3453384" cy="3611880"/>
          </a:xfrm>
          <a:prstGeom prst="roundRect">
            <a:avLst>
              <a:gd name="adj" fmla="val 2648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832" y="17830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balance sca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190195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54480" y="1783080"/>
            <a:ext cx="2447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0120" y="2606040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16152" y="251460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notice on every page and every prediction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0120" y="3474720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16152" y="338328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see the model input, the drivers and the limitations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60120" y="4343400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216152" y="425196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language mapping disclosed and flagged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67784" y="1572768"/>
            <a:ext cx="3453384" cy="3611880"/>
          </a:xfrm>
          <a:prstGeom prst="roundRect">
            <a:avLst>
              <a:gd name="adj" fmla="val 2648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23816" y="17830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1" descr="user shie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190195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36464" y="1783080"/>
            <a:ext cx="2447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642104" y="2606040"/>
            <a:ext cx="128016" cy="128016"/>
          </a:xfrm>
          <a:prstGeom prst="ellipse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4898136" y="251460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de-identified, aggregated AIHW counts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642104" y="3474720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4898136" y="338328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stores nothing a user enters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642104" y="4343400"/>
            <a:ext cx="128016" cy="128016"/>
          </a:xfrm>
          <a:prstGeom prst="ellipse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4898136" y="425196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goes below the level AIHW publishes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924376" y="1572768"/>
            <a:ext cx="3453384" cy="3611880"/>
          </a:xfrm>
          <a:prstGeom prst="roundRect">
            <a:avLst>
              <a:gd name="adj" fmla="val 2648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8305800" y="17830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2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672" y="190195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18448" y="1783080"/>
            <a:ext cx="2447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324088" y="2606040"/>
            <a:ext cx="128016" cy="128016"/>
          </a:xfrm>
          <a:prstGeom prst="ellipse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8580120" y="2514600"/>
            <a:ext cx="267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or keys in the repository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704088" y="5394960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/>
          <p:cNvSpPr txBox="1"/>
          <p:nvPr/>
        </p:nvSpPr>
        <p:spPr>
          <a:xfrm>
            <a:off x="914400" y="5321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system since Assessment 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3931920" y="5394960"/>
            <a:ext cx="128016" cy="128016"/>
          </a:xfrm>
          <a:prstGeom prst="ellipse">
            <a:avLst/>
          </a:prstGeom>
          <a:solidFill>
            <a:srgbClr val="C7B7A4"/>
          </a:solidFill>
          <a:ln w="12700">
            <a:solidFill>
              <a:srgbClr val="C7B7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/>
          <p:cNvSpPr txBox="1"/>
          <p:nvPr/>
        </p:nvSpPr>
        <p:spPr>
          <a:xfrm>
            <a:off x="4142232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place at Assessment 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685800" y="574243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Estimates describe groups, to support planning. They are never an individual diagnosis.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FUTURE SCOPE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and where this could go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5271516" cy="4206240"/>
          </a:xfrm>
          <a:prstGeom prst="roundRect">
            <a:avLst>
              <a:gd name="adj" fmla="val 2174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17830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90195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81912" y="1783080"/>
            <a:ext cx="41742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96696" y="2523744"/>
            <a:ext cx="329184" cy="329184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96696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508760" y="2450592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 before modelling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Seeing that rows are groups, not people, shaped every later decision.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96696" y="3328416"/>
            <a:ext cx="329184" cy="329184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96696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508760" y="3255264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Library version control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Ensure </a:t>
            </a:r>
            <a:r>
              <a:rPr kumimoji="0" lang="en-US" sz="1150" b="0" i="0" u="none" strike="noStrike" kern="1200" cap="none" spc="0" normalizeH="0" baseline="0" noProof="0" err="1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consistant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library version across parts</a:t>
            </a:r>
          </a:p>
        </p:txBody>
      </p:sp>
      <p:sp>
        <p:nvSpPr>
          <p:cNvPr id="21" name="Shape 18"/>
          <p:cNvSpPr/>
          <p:nvPr/>
        </p:nvSpPr>
        <p:spPr>
          <a:xfrm>
            <a:off x="996696" y="4262571"/>
            <a:ext cx="329184" cy="329184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 lIns="91440" tIns="45720" rIns="91440" bIns="4572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​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508759" y="4247291"/>
            <a:ext cx="4036691" cy="67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 changes the conversation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turns analysis into something people can use.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231636" y="1572768"/>
            <a:ext cx="5271516" cy="4206240"/>
          </a:xfrm>
          <a:prstGeom prst="roundRect">
            <a:avLst>
              <a:gd name="adj" fmla="val 2174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  <a:effectLst>
            <a:outerShdw blurRad="127000" dist="25400" dir="5400000" algn="bl" rotWithShape="0">
              <a:srgbClr val="C7B7A4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505956" y="1783080"/>
            <a:ext cx="475488" cy="475488"/>
          </a:xfrm>
          <a:prstGeom prst="ellipse">
            <a:avLst/>
          </a:prstGeom>
          <a:solidFill>
            <a:srgbClr val="6E8778"/>
          </a:solidFill>
          <a:ln w="12700">
            <a:solidFill>
              <a:srgbClr val="6E87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1" descr="compas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901952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27748" y="1783080"/>
            <a:ext cx="41742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scope, beyond this unit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524244" y="2505456"/>
            <a:ext cx="365760" cy="365760"/>
          </a:xfrm>
          <a:prstGeom prst="ellipse">
            <a:avLst/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2" descr="redo 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2596896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54596" y="2450592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Rerun on the 2026 Census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AIHW publishes it; the pipeline is designed to repeat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6524244" y="3310128"/>
            <a:ext cx="365760" cy="365760"/>
          </a:xfrm>
          <a:prstGeom prst="ellipse">
            <a:avLst/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3" descr="sliders h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340156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054596" y="3255264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explanations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range and the main drivers for every prediction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524244" y="4114800"/>
            <a:ext cx="365760" cy="365760"/>
          </a:xfrm>
          <a:prstGeom prst="ellipse">
            <a:avLst/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4" descr="chart lin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684" y="4206240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54596" y="4059936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 census years, not just 2021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524244" y="4919472"/>
            <a:ext cx="365760" cy="365760"/>
          </a:xfrm>
          <a:prstGeom prst="ellipse">
            <a:avLst/>
          </a:prstGeom>
          <a:solidFill>
            <a:srgbClr val="F0E2CE"/>
          </a:solidFill>
          <a:ln w="12700">
            <a:solidFill>
              <a:srgbClr val="F0E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5" descr="hands helping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684" y="5010912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054596" y="4864608"/>
            <a:ext cx="4219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Co-design with users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6A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 agencies and community organisations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6E87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before Assessment 4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A99A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684835" y="1716911"/>
          <a:ext cx="9491472" cy="289864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E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both services on Render and share the link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dashboard and API anyone can open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/>
                          <a:ea typeface="Calibri"/>
                          <a:cs typeface="Calibri"/>
                        </a:rPr>
                        <a:t>Simba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E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testing of the dashboard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from real users, and fixes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/>
                          <a:ea typeface="Calibri"/>
                          <a:cs typeface="Calibri"/>
                        </a:rPr>
                        <a:t>Cynthia, Adnan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E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pipeline from download to deployment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 reruns everything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Simba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E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Jira and the risk register current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evidence for the final report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/>
                          <a:ea typeface="Calibri"/>
                          <a:cs typeface="Calibri"/>
                        </a:rPr>
                        <a:t>Najmus, Haroon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E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and final demonstration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4 submission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550408"/>
            <a:ext cx="10817352" cy="566928"/>
          </a:xfrm>
          <a:prstGeom prst="roundRect">
            <a:avLst>
              <a:gd name="adj" fmla="val 16129"/>
            </a:avLst>
          </a:prstGeom>
          <a:solidFill>
            <a:srgbClr val="FAF4EA"/>
          </a:solidFill>
          <a:ln w="12700">
            <a:solidFill>
              <a:srgbClr val="E6DB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50392" y="562356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bullsey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72414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99032" y="5550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3E2B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 for Assessment 4:  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3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deployed, reproducible system with a retrained model and complete documentation.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41248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EEDF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welcome: on the model, the API or the dashboard.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1357</Words>
  <Application>Microsoft Macintosh PowerPoint</Application>
  <PresentationFormat>Widescreen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Adnan Abir</dc:creator>
  <cp:lastModifiedBy>Md Adnan Abir</cp:lastModifiedBy>
  <cp:revision>2</cp:revision>
  <dcterms:created xsi:type="dcterms:W3CDTF">2026-10-04T06:11:34Z</dcterms:created>
  <dcterms:modified xsi:type="dcterms:W3CDTF">2026-10-04T06:15:23Z</dcterms:modified>
</cp:coreProperties>
</file>